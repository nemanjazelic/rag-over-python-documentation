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7" r:id="rId6"/>
    <p:sldId id="268" r:id="rId7"/>
    <p:sldId id="275" r:id="rId8"/>
    <p:sldId id="269" r:id="rId9"/>
    <p:sldId id="270" r:id="rId10"/>
    <p:sldId id="272" r:id="rId11"/>
    <p:sldId id="273" r:id="rId12"/>
    <p:sldId id="276" r:id="rId13"/>
    <p:sldId id="271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11" dt="2026-09-22T05:48:15.754"/>
    <p1510:client id="{64C2378C-189B-FEE9-8D02-EA27F0A90FF8}" v="58" dt="2026-09-22T06:47:44.867"/>
    <p1510:client id="{FF144567-BA47-3365-6F0A-AAADFE28A768}" v="222" dt="2026-09-22T05:22:02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Izvor: Diplomski_RAG.docx, odgovarajuće poglavlje 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Izvor: Diplomski_RAG.docx, odgovarajuće poglavlje 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Izvor: Diplomski_RAG.docx, odgovarajuće poglavlje 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45BD5ED-2A5D-49CC-89FD-ACCFED05EB30}"/>
              </a:ext>
            </a:extLst>
          </p:cNvPr>
          <p:cNvSpPr>
            <a:spLocks noGrp="1"/>
          </p:cNvSpPr>
          <p:nvPr/>
        </p:nvSpPr>
        <p:spPr>
          <a:xfrm>
            <a:off x="2328332" y="1540931"/>
            <a:ext cx="7543802" cy="3835401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pic>
        <p:nvPicPr>
          <p:cNvPr id="32" name="Picture 16"/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-16934" y="3147609"/>
            <a:ext cx="2478024" cy="612648"/>
          </a:xfrm>
          <a:prstGeom prst="rect">
            <a:avLst/>
          </a:prstGeom>
        </p:spPr>
      </p:pic>
      <p:pic>
        <p:nvPicPr>
          <p:cNvPr id="33" name="Picture 19"/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9736202" y="3147609"/>
            <a:ext cx="2478024" cy="6126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FD3637-111D-4719-BEF1-B168CAC6A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buNone/>
              <a:defRPr sz="54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7BC2C-EF1F-466D-972A-52DC9BCD5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48F77-9515-44D9-90C1-37F65A24AD9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A5978-7162-4195-A5B9-CA75A40C4FE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96108-26B0-4896-A687-CF9F7A51FF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A708A7A-F9EE-43E4-8823-39992FAC4A5B}"/>
              </a:ext>
            </a:extLst>
          </p:cNvPr>
          <p:cNvSpPr>
            <a:spLocks noGrp="1"/>
          </p:cNvSpPr>
          <p:nvPr/>
        </p:nv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179DBE4-251E-4BA1-9DC7-B61F15DF5CED}"/>
              </a:ext>
            </a:extLst>
          </p:cNvPr>
          <p:cNvSpPr>
            <a:spLocks noGrp="1"/>
          </p:cNvSpPr>
          <p:nvPr/>
        </p:nv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54670-C259-4A7B-9CC3-97CD2D01B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281F8-16B1-4ACE-9C9B-B6E37F1A2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7F104-B214-4310-BBEE-7D418AAA3F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A439D-A645-42FE-A966-D4AE7EC0CF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82E68-71F6-43B7-975D-09290A48DA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DBD1-837E-467A-9429-8ED650295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E5CA3-8501-469F-8343-0B0D32A92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D2655-48ED-47BB-80C6-BE84019CC9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7E592-6523-4156-9227-DAF7516DAF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51734-D231-4EE5-ADB9-75F94BF1FB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B813DF8B-CA60-4D58-8878-7DB32BB8FD1B}"/>
              </a:ext>
            </a:extLst>
          </p:cNvPr>
          <p:cNvSpPr>
            <a:spLocks noGrp="1"/>
          </p:cNvSpPr>
          <p:nvPr/>
        </p:nv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EA74992-7250-431E-9529-DEEB27AC359B}"/>
              </a:ext>
            </a:extLst>
          </p:cNvPr>
          <p:cNvSpPr>
            <a:spLocks noGrp="1"/>
          </p:cNvSpPr>
          <p:nvPr/>
        </p:nv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C6FE0-F862-40E6-9DDA-97FD26AF3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388DC-78CB-403B-8D55-AFCDAFFDE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176AF-2939-4425-AE9B-52772CF98EB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ACE76-3E3A-4319-8986-047D5A2733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D38B5-638F-4D4A-8A38-EB9A242405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8EC91-975E-422B-A0CF-8B715B1A58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AB9D6-721F-41A6-81B8-94C25087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BEE79-9D53-4D06-9F92-BAAA07975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1E41F8-99F0-4E31-9880-CC23A979645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9F508-648C-4733-B11A-D563A29A4BC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CECF75-25D0-413F-B750-6E8E6BA062C5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46BC8C-CFF2-43EF-86EF-6DC7870DEE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ACFCFF-174E-4CE1-99F9-7275818B82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5A8693-C7C3-4EF4-AEE5-6245309CE2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F6E5E6E-6CE5-4BDE-8678-6746C3DF755D}"/>
              </a:ext>
            </a:extLst>
          </p:cNvPr>
          <p:cNvSpPr>
            <a:spLocks noGrp="1"/>
          </p:cNvSpPr>
          <p:nvPr/>
        </p:nv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CC76-3BC2-42C8-8E92-73EE88377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667E26-7C79-4F23-9608-54CD854C64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4D0E9-8CC5-4EB5-9886-CC1B5FF1D9D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A9D66-4220-41FD-83FA-CDD711A11D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7EDF4D59-9E1A-43F1-9EFC-D785ECE37BC2}"/>
              </a:ext>
            </a:extLst>
          </p:cNvPr>
          <p:cNvSpPr>
            <a:spLocks noGrp="1"/>
          </p:cNvSpPr>
          <p:nvPr/>
        </p:nv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948098-C3BD-4EE4-B7B6-D23528A75D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C8913-7E11-4EFD-BA26-B8694361DC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81F13-BDDB-4A55-9CD8-515DF26109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8C8C-3DFB-41B8-9F6E-63AE870A6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0B6F9-BFAD-4B5A-AC20-B8BC70456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7E098-0F14-44EA-A9C5-E05D8546244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B5586-5E75-44A7-AE0B-094C3AE71D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DA29A-FCB3-4C3E-8380-9FAF2E4CE0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E71AE-2840-450E-B969-61E8159AA9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E3704AD3-BC46-4F14-95B5-BE615306EFBE}"/>
              </a:ext>
            </a:extLst>
          </p:cNvPr>
          <p:cNvSpPr>
            <a:spLocks noGrp="1"/>
          </p:cNvSpPr>
          <p:nvPr/>
        </p:nv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A8464-0B90-4474-B3D2-227F1B680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buNone/>
              <a:defRPr sz="2800" b="0"/>
            </a:lvl1pPr>
          </a:lstStyle>
          <a:p>
            <a:r>
              <a:t>Click to edit Master title style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A74199DF-0299-466E-80FF-20019F92FE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91079-B167-4A27-90F6-891D129A3CF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41D9A-2DDC-4A31-BCD7-06F8F8771D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08DF5-1CAA-47B8-B3B8-A2B4401239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90C52-6E1D-40DE-9BB7-932BCCC482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1B8C-5277-413D-A271-EF658DCD6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27A876-11C3-4E6C-8F1F-DB309574A4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BF20B-1746-4FDD-B7F3-9E1462A4AEB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ECBFF-4704-4BC9-A7EC-A2AD1FA0D2A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9DAE2-4540-42B1-8DE7-6C36F4C91D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9CE68-2F98-4AAA-AF85-E3BF8C28A7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3DFBA-F6F4-4DCE-97F9-11DAED90E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buNone/>
              <a:defRPr sz="32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37664-168F-48EC-9A5D-DE761D609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7CB78-F45B-4986-B019-853956982A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E8197-4945-42F9-B44F-112CCADBE4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8EB43-E3C9-4C62-954C-255350E518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9CE5086-DA77-44BE-A34E-9368864B3244}"/>
              </a:ext>
            </a:extLst>
          </p:cNvPr>
          <p:cNvSpPr>
            <a:spLocks noGrp="1"/>
          </p:cNvSpPr>
          <p:nvPr/>
        </p:nv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3FD3C-56D8-410D-B3DF-391379E6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buNone/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E550E2-4A64-437E-B7C6-E1262A72F0D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F2B8E-5053-420C-9089-0A52E6A37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20FE9-314B-4EF9-8935-614EE92BE0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AE671-4DA0-4FF5-868B-1B732C92E1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BEAB7-65CA-42D6-A811-071EFF6C5C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991F62-7C2F-44CB-9E22-BD5D47D3BB54}"/>
              </a:ext>
            </a:extLst>
          </p:cNvPr>
          <p:cNvSpPr>
            <a:spLocks noGrp="1"/>
          </p:cNvSpPr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EA6F54-3161-4BB2-ABEB-489DDCE28142}"/>
              </a:ext>
            </a:extLst>
          </p:cNvPr>
          <p:cNvSpPr>
            <a:spLocks noGrp="1"/>
          </p:cNvSpPr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 algn="r">
              <a:buNone/>
            </a:pPr>
            <a:r>
              <a:rPr sz="800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7B31310-855D-4EDF-A7D9-A998D2D53918}"/>
              </a:ext>
            </a:extLst>
          </p:cNvPr>
          <p:cNvSpPr>
            <a:spLocks noGrp="1"/>
          </p:cNvSpPr>
          <p:nvPr/>
        </p:nv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974FA-E0A2-40BF-A4EA-8B300A07F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buNone/>
              <a:defRPr sz="32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9F1BA-498F-45FB-9444-44B76ECE4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2A7AC-19EF-456D-9358-EDB01BF850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D356D-5960-49E3-95F6-98A694A4EF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59B74-FC51-4E83-9A4F-7D95114BB4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A610C-D75D-47F6-AB76-A2445CF1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buNone/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42246B5-0BD4-4492-92BE-7AFC1E09300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0345C-E957-42E0-9C46-0EFE6ADFD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FC6BC-AE09-4077-A88E-36A8641C17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AAC44-966A-41C7-9485-55F12BB6D09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008D8-715E-49DC-AAC5-8104095BAE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581F7A-1B2E-40EC-8269-051A5065AE42}"/>
              </a:ext>
            </a:extLst>
          </p:cNvPr>
          <p:cNvSpPr>
            <a:spLocks noGrp="1"/>
          </p:cNvSpPr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3DA760-2610-4118-BEE1-866B07091CE6}"/>
              </a:ext>
            </a:extLst>
          </p:cNvPr>
          <p:cNvSpPr>
            <a:spLocks noGrp="1"/>
          </p:cNvSpPr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 algn="r">
              <a:buNone/>
            </a:pPr>
            <a:r>
              <a:rPr sz="800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38D3A7CD-7ED0-4A32-926B-3F54C3C01F2C}"/>
              </a:ext>
            </a:extLst>
          </p:cNvPr>
          <p:cNvSpPr>
            <a:spLocks noGrp="1"/>
          </p:cNvSpPr>
          <p:nvPr/>
        </p:nv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8A40F-F90A-4AF1-9EF2-C0586F291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b="0"/>
            </a:lvl1pPr>
          </a:lstStyle>
          <a:p>
            <a:pPr marL="0" lvl="0">
              <a:buNone/>
            </a:pPr>
            <a:r>
              <a:t>Click to edit Master title style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BAE796A-A446-4FDD-922A-BF5CF828A5A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ABC62-AF66-4126-815A-A37DEC04C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E7C05-A14A-48DB-8B74-2827996F50D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FE728-4620-43F6-86CD-048DF71A2C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F388C-33BD-43B0-8902-9D35F63BAF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1F959DB-365E-4412-BE5A-33F12CF6F1C4}"/>
              </a:ext>
            </a:extLst>
          </p:cNvPr>
          <p:cNvSpPr>
            <a:spLocks noGrp="1"/>
          </p:cNvSpPr>
          <p:nvPr/>
        </p:nv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81282-8CCD-4A74-868D-4B37D9CBC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3B06B-30D7-428E-9197-8C212EE93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 anchor="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3A430-8389-4C45-9069-4140572AF2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7CA74-1328-4BB9-B33D-52A4BA75DE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14794-E91D-41A0-838E-A02DA0C91D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83BF4B6-31EB-4F80-A982-715BFFBAC46E}"/>
              </a:ext>
            </a:extLst>
          </p:cNvPr>
          <p:cNvSpPr>
            <a:spLocks noGrp="1"/>
          </p:cNvSpPr>
          <p:nvPr/>
        </p:nv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083CCA-1DF5-4FED-9B5B-467959989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31A49-F190-480E-B177-464996C39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22832-6FDB-42EF-97EE-6AB8D3BF34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B534D-B70B-476A-9800-5F334F78AF8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93D0C-8CEE-4673-A0C6-6306009DE5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3068C-3B6E-43F9-B62B-1A31EA79AAB1}" type="slidenum">
              <a:t>‹#›</a:t>
            </a:fld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8E20D934-7935-47E0-ABEC-56C11F855AF5}"/>
              </a:ext>
            </a:extLst>
          </p:cNvPr>
          <p:cNvSpPr>
            <a:spLocks noGrp="1"/>
          </p:cNvSpPr>
          <p:nvPr/>
        </p:nv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E264828-9618-4B0B-9939-6F13D51836F0}"/>
              </a:ext>
            </a:extLst>
          </p:cNvPr>
          <p:cNvSpPr>
            <a:spLocks noGrp="1"/>
          </p:cNvSpPr>
          <p:nvPr/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pic>
        <p:nvPicPr>
          <p:cNvPr id="15" name="Picture 9"/>
          <p:cNvPicPr>
            <a:picLocks noChangeAspect="1"/>
          </p:cNvPicPr>
          <p:nvPr/>
        </p:nvPicPr>
        <p:blipFill rotWithShape="1">
          <a:blip r:embed="rId20"/>
          <a:srcRect/>
          <a:stretch/>
        </p:blipFill>
        <p:spPr>
          <a:xfrm>
            <a:off x="-15736" y="3153832"/>
            <a:ext cx="777240" cy="606425"/>
          </a:xfrm>
          <a:prstGeom prst="rect">
            <a:avLst/>
          </a:prstGeom>
        </p:spPr>
      </p:pic>
      <p:pic>
        <p:nvPicPr>
          <p:cNvPr id="16" name="Picture 10"/>
          <p:cNvPicPr>
            <a:picLocks noChangeAspect="1"/>
          </p:cNvPicPr>
          <p:nvPr/>
        </p:nvPicPr>
        <p:blipFill rotWithShape="1">
          <a:blip r:embed="rId20"/>
          <a:srcRect/>
          <a:stretch/>
        </p:blipFill>
        <p:spPr>
          <a:xfrm>
            <a:off x="11436986" y="3153832"/>
            <a:ext cx="777240" cy="60642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FD95D6-E9A9-43BA-96B2-7189514AC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3749D-2E48-4198-9415-821269BD5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E9E12-D8D5-4446-BEBB-72C3F57A345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142B5BC2-0F29-414F-9F92-5ADA83C1C172}" type="datetimeFigureOut">
              <a:t>9/21/2026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73B44-F764-42EE-A97A-037AC7579FD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8351F-D7ED-4987-BD14-37BF98EEF21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CF53068C-3B6E-43F9-B62B-1A31EA79AAB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285750" indent="-285750" algn="l" defTabSz="45720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2pPr>
      <a:lvl3pPr marL="1200150" indent="-285750" algn="l" defTabSz="45720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3pPr>
      <a:lvl4pPr marL="1543050" indent="-171450" algn="l" defTabSz="45720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4pPr>
      <a:lvl5pPr marL="2000250" indent="-171450" algn="l" defTabSz="45720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4966-B907-4B6D-ACCB-FBB11E94C0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>
              <a:defRPr sz="24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2475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Realizacija RAG sistema i evaluacija pretrage</a:t>
            </a:r>
            <a:endParaRPr sz="4400"/>
          </a:p>
          <a:p>
            <a:pPr>
              <a:defRPr sz="24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2475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nad dokumentacijom programskog jezika Python</a:t>
            </a:r>
            <a:endParaRPr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4463BD-DE32-40C4-AC89-312D43D7DC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r">
              <a:buNone/>
              <a:defRPr sz="16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165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Kandidat: Nemanja Zelic, 0092/2022</a:t>
            </a:r>
          </a:p>
          <a:p>
            <a:pPr algn="r">
              <a:buNone/>
              <a:defRPr sz="16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165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Mentor: prof. dr Marko Mišić</a:t>
            </a:r>
            <a:endParaRPr/>
          </a:p>
          <a:p>
            <a:pPr algn="r">
              <a:buNone/>
              <a:defRPr sz="16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165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Beograd, septembar 2026.</a:t>
            </a:r>
            <a:endParaRPr/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57131" y="3657597"/>
            <a:ext cx="1439545" cy="167957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5735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DB610-EE90-42F3-8D1E-E841B235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30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300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Problem i cilj rada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EB126-A49A-4E24-BC56-13C35BA98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SzPct val="114999"/>
              <a:defRPr sz="18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en-US" sz="1850" dirty="0">
                <a:solidFill>
                  <a:srgbClr val="212121"/>
                </a:solidFill>
                <a:latin typeface="Garamond"/>
              </a:rPr>
              <a:t>LLM </a:t>
            </a:r>
            <a:r>
              <a:rPr lang="en-US" sz="1850" dirty="0" err="1">
                <a:solidFill>
                  <a:srgbClr val="212121"/>
                </a:solidFill>
                <a:latin typeface="Garamond"/>
              </a:rPr>
              <a:t>daju</a:t>
            </a:r>
            <a:r>
              <a:rPr lang="en-US" sz="1850" dirty="0">
                <a:solidFill>
                  <a:srgbClr val="212121"/>
                </a:solidFill>
                <a:latin typeface="Garamond"/>
              </a:rPr>
              <a:t> </a:t>
            </a:r>
            <a:r>
              <a:rPr lang="en-US" sz="1850" dirty="0" err="1">
                <a:solidFill>
                  <a:srgbClr val="212121"/>
                </a:solidFill>
                <a:latin typeface="Garamond"/>
              </a:rPr>
              <a:t>dobre</a:t>
            </a:r>
            <a:r>
              <a:rPr lang="en-US" sz="1850" dirty="0">
                <a:solidFill>
                  <a:srgbClr val="212121"/>
                </a:solidFill>
                <a:latin typeface="Garamond"/>
              </a:rPr>
              <a:t> </a:t>
            </a:r>
            <a:r>
              <a:rPr lang="en-US" sz="1850" dirty="0" err="1">
                <a:solidFill>
                  <a:srgbClr val="212121"/>
                </a:solidFill>
                <a:latin typeface="Garamond"/>
              </a:rPr>
              <a:t>odgovore</a:t>
            </a:r>
            <a:r>
              <a:rPr lang="en-US" sz="1850" dirty="0">
                <a:solidFill>
                  <a:srgbClr val="212121"/>
                </a:solidFill>
                <a:latin typeface="Garamond"/>
              </a:rPr>
              <a:t> </a:t>
            </a:r>
            <a:r>
              <a:rPr lang="en-US" sz="1850" dirty="0" err="1">
                <a:solidFill>
                  <a:srgbClr val="212121"/>
                </a:solidFill>
                <a:latin typeface="Garamond"/>
              </a:rPr>
              <a:t>ali</a:t>
            </a:r>
            <a:r>
              <a:rPr lang="en-US" sz="1850" dirty="0">
                <a:solidFill>
                  <a:srgbClr val="212121"/>
                </a:solidFill>
                <a:latin typeface="Garamond"/>
              </a:rPr>
              <a:t> </a:t>
            </a:r>
            <a:r>
              <a:rPr lang="en-US" sz="1850" dirty="0" err="1">
                <a:solidFill>
                  <a:srgbClr val="212121"/>
                </a:solidFill>
                <a:latin typeface="Garamond"/>
              </a:rPr>
              <a:t>nad</a:t>
            </a:r>
            <a:r>
              <a:rPr lang="en-US" sz="1850" dirty="0">
                <a:solidFill>
                  <a:srgbClr val="212121"/>
                </a:solidFill>
                <a:latin typeface="Garamond"/>
              </a:rPr>
              <a:t> </a:t>
            </a:r>
            <a:r>
              <a:rPr lang="en-US" sz="1850" dirty="0" err="1">
                <a:solidFill>
                  <a:srgbClr val="212121"/>
                </a:solidFill>
                <a:latin typeface="Garamond"/>
              </a:rPr>
              <a:t>velikom</a:t>
            </a:r>
            <a:r>
              <a:rPr lang="en-US" sz="1850" dirty="0">
                <a:solidFill>
                  <a:srgbClr val="212121"/>
                </a:solidFill>
                <a:latin typeface="Garamond"/>
              </a:rPr>
              <a:t> </a:t>
            </a:r>
            <a:r>
              <a:rPr lang="en-US" sz="1850" dirty="0" err="1">
                <a:solidFill>
                  <a:srgbClr val="212121"/>
                </a:solidFill>
                <a:latin typeface="Garamond"/>
              </a:rPr>
              <a:t>kolicinom</a:t>
            </a:r>
            <a:r>
              <a:rPr lang="en-US" sz="1850" dirty="0">
                <a:solidFill>
                  <a:srgbClr val="212121"/>
                </a:solidFill>
                <a:latin typeface="Garamond"/>
              </a:rPr>
              <a:t> </a:t>
            </a:r>
            <a:r>
              <a:rPr lang="en-US" sz="1850" dirty="0" err="1">
                <a:solidFill>
                  <a:srgbClr val="212121"/>
                </a:solidFill>
                <a:latin typeface="Garamond"/>
              </a:rPr>
              <a:t>podataka</a:t>
            </a:r>
            <a:r>
              <a:rPr lang="en-US" sz="1850" dirty="0">
                <a:solidFill>
                  <a:srgbClr val="212121"/>
                </a:solidFill>
                <a:latin typeface="Garamond"/>
              </a:rPr>
              <a:t> </a:t>
            </a:r>
            <a:r>
              <a:rPr lang="en-US" sz="1850" dirty="0" err="1">
                <a:solidFill>
                  <a:srgbClr val="212121"/>
                </a:solidFill>
                <a:latin typeface="Garamond"/>
              </a:rPr>
              <a:t>haluciniraju</a:t>
            </a:r>
            <a:r>
              <a:rPr lang="en-US" sz="1850" dirty="0">
                <a:solidFill>
                  <a:srgbClr val="212121"/>
                </a:solidFill>
                <a:latin typeface="Garamond"/>
              </a:rPr>
              <a:t> I </a:t>
            </a:r>
            <a:r>
              <a:rPr lang="en-US" sz="1850" dirty="0" err="1">
                <a:solidFill>
                  <a:srgbClr val="212121"/>
                </a:solidFill>
                <a:latin typeface="Garamond"/>
              </a:rPr>
              <a:t>ispadaju</a:t>
            </a:r>
            <a:r>
              <a:rPr lang="en-US" sz="1850" dirty="0">
                <a:solidFill>
                  <a:srgbClr val="212121"/>
                </a:solidFill>
                <a:latin typeface="Garamond"/>
              </a:rPr>
              <a:t> </a:t>
            </a:r>
            <a:r>
              <a:rPr lang="en-US" sz="1850" dirty="0" err="1">
                <a:solidFill>
                  <a:srgbClr val="212121"/>
                </a:solidFill>
                <a:latin typeface="Garamond"/>
              </a:rPr>
              <a:t>im</a:t>
            </a:r>
            <a:r>
              <a:rPr lang="en-US" sz="1850" dirty="0">
                <a:solidFill>
                  <a:srgbClr val="212121"/>
                </a:solidFill>
                <a:latin typeface="Garamond"/>
              </a:rPr>
              <a:t> </a:t>
            </a:r>
            <a:r>
              <a:rPr lang="en-US" sz="1850" dirty="0" err="1">
                <a:solidFill>
                  <a:srgbClr val="212121"/>
                </a:solidFill>
                <a:latin typeface="Garamond"/>
              </a:rPr>
              <a:t>stvari</a:t>
            </a:r>
            <a:r>
              <a:rPr lang="en-US" sz="1850" dirty="0">
                <a:solidFill>
                  <a:srgbClr val="212121"/>
                </a:solidFill>
                <a:latin typeface="Garamond"/>
              </a:rPr>
              <a:t> </a:t>
            </a:r>
            <a:r>
              <a:rPr lang="en-US" sz="1850" dirty="0" err="1">
                <a:solidFill>
                  <a:srgbClr val="212121"/>
                </a:solidFill>
                <a:latin typeface="Garamond"/>
              </a:rPr>
              <a:t>iz</a:t>
            </a:r>
            <a:r>
              <a:rPr lang="en-US" sz="1850" dirty="0">
                <a:solidFill>
                  <a:srgbClr val="212121"/>
                </a:solidFill>
                <a:latin typeface="Garamond"/>
              </a:rPr>
              <a:t> </a:t>
            </a:r>
            <a:r>
              <a:rPr lang="en-US" sz="1850" dirty="0" err="1">
                <a:solidFill>
                  <a:srgbClr val="212121"/>
                </a:solidFill>
                <a:latin typeface="Garamond"/>
              </a:rPr>
              <a:t>konteksta</a:t>
            </a:r>
            <a:endParaRPr lang="en-US" sz="1850">
              <a:solidFill>
                <a:srgbClr val="212121"/>
              </a:solidFill>
              <a:latin typeface="Garamond"/>
            </a:endParaRPr>
          </a:p>
          <a:p>
            <a:pPr marL="254000" indent="-127000">
              <a:spcAft>
                <a:spcPts val="900"/>
              </a:spcAft>
              <a:buSzPct val="114999"/>
              <a:defRPr sz="18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en-US" sz="1850" dirty="0" err="1"/>
              <a:t>Pomoci</a:t>
            </a:r>
            <a:r>
              <a:rPr lang="en-US" sz="1850" dirty="0"/>
              <a:t> tome </a:t>
            </a:r>
            <a:r>
              <a:rPr lang="en-US" sz="1850" dirty="0" err="1"/>
              <a:t>dostavljanjem</a:t>
            </a:r>
            <a:r>
              <a:rPr lang="en-US" sz="1850" dirty="0"/>
              <a:t> </a:t>
            </a:r>
            <a:r>
              <a:rPr lang="en-US" sz="1850" dirty="0" err="1"/>
              <a:t>relevantinih</a:t>
            </a:r>
            <a:r>
              <a:rPr lang="en-US" sz="1850" dirty="0"/>
              <a:t> </a:t>
            </a:r>
            <a:r>
              <a:rPr lang="en-US" sz="1850" dirty="0" err="1"/>
              <a:t>dokumenata</a:t>
            </a:r>
            <a:r>
              <a:rPr lang="en-US" sz="1850" dirty="0"/>
              <a:t> </a:t>
            </a:r>
            <a:r>
              <a:rPr lang="en-US" sz="1850" dirty="0" err="1"/>
              <a:t>kao</a:t>
            </a:r>
            <a:r>
              <a:rPr lang="en-US" sz="1850" dirty="0"/>
              <a:t> </a:t>
            </a:r>
            <a:r>
              <a:rPr lang="en-US" sz="1850" dirty="0" err="1"/>
              <a:t>pomocni</a:t>
            </a:r>
            <a:r>
              <a:rPr lang="en-US" sz="1850" dirty="0"/>
              <a:t> </a:t>
            </a:r>
            <a:r>
              <a:rPr lang="en-US" sz="1850" dirty="0" err="1"/>
              <a:t>kontekst</a:t>
            </a:r>
            <a:r>
              <a:rPr lang="en-US" sz="1850" dirty="0"/>
              <a:t> za </a:t>
            </a:r>
            <a:r>
              <a:rPr lang="en-US" sz="1850" dirty="0" err="1"/>
              <a:t>precizniji</a:t>
            </a:r>
            <a:r>
              <a:rPr lang="en-US" sz="1850" dirty="0"/>
              <a:t> I </a:t>
            </a:r>
            <a:r>
              <a:rPr lang="en-US" sz="1850" dirty="0" err="1"/>
              <a:t>deterministicki</a:t>
            </a:r>
            <a:r>
              <a:rPr lang="en-US" sz="1850" dirty="0"/>
              <a:t> </a:t>
            </a:r>
            <a:r>
              <a:rPr lang="en-US" sz="1850" dirty="0" err="1"/>
              <a:t>odgocor</a:t>
            </a:r>
            <a:endParaRPr lang="en-US" sz="1850" dirty="0"/>
          </a:p>
          <a:p>
            <a:pPr marL="254000" indent="-127000">
              <a:spcAft>
                <a:spcPts val="900"/>
              </a:spcAft>
              <a:buSzPct val="114999"/>
              <a:defRPr sz="18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en-US" sz="1850" dirty="0" err="1"/>
              <a:t>Resenje</a:t>
            </a:r>
            <a:r>
              <a:rPr lang="en-US" sz="1850" dirty="0"/>
              <a:t> </a:t>
            </a:r>
            <a:r>
              <a:rPr lang="en-US" sz="1850" dirty="0" err="1"/>
              <a:t>napraviti</a:t>
            </a:r>
            <a:r>
              <a:rPr lang="en-US" sz="1850" dirty="0"/>
              <a:t> RAG </a:t>
            </a:r>
            <a:r>
              <a:rPr lang="en-US" sz="1850" dirty="0" err="1"/>
              <a:t>ssitem</a:t>
            </a:r>
            <a:r>
              <a:rPr lang="en-US" sz="1850" dirty="0"/>
              <a:t> koji </a:t>
            </a:r>
            <a:r>
              <a:rPr lang="en-US" sz="1850" dirty="0" err="1"/>
              <a:t>pronalazi</a:t>
            </a:r>
            <a:r>
              <a:rPr lang="en-US" sz="1850" dirty="0"/>
              <a:t> </a:t>
            </a:r>
            <a:r>
              <a:rPr lang="en-US" sz="1850" dirty="0" err="1"/>
              <a:t>semanticki</a:t>
            </a:r>
            <a:r>
              <a:rPr lang="en-US" sz="1850" dirty="0"/>
              <a:t> </a:t>
            </a:r>
            <a:r>
              <a:rPr lang="en-US" sz="1850" dirty="0" err="1"/>
              <a:t>najblize</a:t>
            </a:r>
            <a:r>
              <a:rPr lang="en-US" sz="1850" dirty="0"/>
              <a:t> </a:t>
            </a:r>
            <a:r>
              <a:rPr lang="en-US" sz="1850" dirty="0" err="1"/>
              <a:t>dokumente</a:t>
            </a:r>
            <a:r>
              <a:rPr lang="en-US" sz="1850" dirty="0"/>
              <a:t> </a:t>
            </a:r>
            <a:r>
              <a:rPr lang="en-US" sz="1850" dirty="0" err="1"/>
              <a:t>pitanju</a:t>
            </a:r>
            <a:endParaRPr lang="en-US" sz="1850" dirty="0"/>
          </a:p>
          <a:p>
            <a:pPr marL="254000" indent="-127000">
              <a:spcAft>
                <a:spcPts val="900"/>
              </a:spcAft>
              <a:buSzPct val="114999"/>
              <a:defRPr sz="18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en-US" sz="1850" dirty="0" err="1"/>
              <a:t>Testirati</a:t>
            </a:r>
            <a:r>
              <a:rPr lang="en-US" sz="1850" dirty="0"/>
              <a:t> </a:t>
            </a:r>
            <a:r>
              <a:rPr lang="en-US" sz="1850" dirty="0" err="1"/>
              <a:t>razliocitih</a:t>
            </a:r>
            <a:r>
              <a:rPr lang="en-US" sz="1850" dirty="0"/>
              <a:t> </a:t>
            </a:r>
            <a:r>
              <a:rPr lang="en-US" sz="1850" dirty="0" err="1"/>
              <a:t>konfiguracijua</a:t>
            </a:r>
            <a:r>
              <a:rPr lang="en-US" sz="1850" dirty="0"/>
              <a:t> </a:t>
            </a:r>
            <a:r>
              <a:rPr lang="en-US" sz="1850" dirty="0" err="1"/>
              <a:t>resenja</a:t>
            </a:r>
            <a:r>
              <a:rPr lang="en-US" sz="1850" dirty="0"/>
              <a:t> </a:t>
            </a:r>
            <a:r>
              <a:rPr lang="en-US" sz="1850" dirty="0" err="1"/>
              <a:t>nad</a:t>
            </a:r>
            <a:r>
              <a:rPr lang="en-US" sz="1850" dirty="0"/>
              <a:t> </a:t>
            </a:r>
            <a:r>
              <a:rPr lang="en-US" sz="1850" dirty="0" err="1"/>
              <a:t>Pyton</a:t>
            </a:r>
            <a:r>
              <a:rPr lang="en-US" sz="1850" dirty="0"/>
              <a:t> </a:t>
            </a:r>
            <a:r>
              <a:rPr lang="en-US" sz="1850" dirty="0" err="1"/>
              <a:t>dokumentacijom</a:t>
            </a:r>
            <a:endParaRPr lang="en-US" sz="18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3D5F1F-B802-4AD1-9933-CEDC00C69F33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975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1 / 11</a:t>
            </a:r>
          </a:p>
        </p:txBody>
      </p:sp>
    </p:spTree>
    <p:extLst>
      <p:ext uri="{BB962C8B-B14F-4D97-AF65-F5344CB8AC3E}">
        <p14:creationId xmlns:p14="http://schemas.microsoft.com/office/powerpoint/2010/main" val="162216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DB610-EE90-42F3-8D1E-E841B235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30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300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Istraživačka pitanja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EB126-A49A-4E24-BC56-13C35BA98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Char char="•"/>
              <a:defRPr sz="18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1875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Kako RRF menja rangiranje u odnosu na pojedinačne metode, posebno među prva dva rezultata?</a:t>
            </a:r>
          </a:p>
          <a:p>
            <a:pPr marL="254000" indent="-127000">
              <a:spcAft>
                <a:spcPts val="900"/>
              </a:spcAft>
              <a:buChar char="•"/>
              <a:defRPr sz="18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1875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Koja konfiguracija strukturne segmentacije ostvaruje najveći MRR?</a:t>
            </a:r>
          </a:p>
          <a:p>
            <a:pPr marL="254000" indent="-127000">
              <a:spcAft>
                <a:spcPts val="900"/>
              </a:spcAft>
              <a:buChar char="•"/>
              <a:defRPr sz="18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1875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Kako se izbor konfiguracije odražava na indeks i vreme pretrage?</a:t>
            </a:r>
          </a:p>
          <a:p>
            <a:pPr marL="254000" indent="-127000">
              <a:spcAft>
                <a:spcPts val="900"/>
              </a:spcAft>
              <a:buChar char="•"/>
              <a:defRPr sz="18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1875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Kvalitet pretrage meri se odvojeno od tačnosti generisanog odgovora.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5A98C4-CA19-470D-AA0C-3C8E0D14730E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975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4283590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CD7-A07E-4C9F-890A-6F9BFEE33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30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300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Tok RAG sistema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0AC0A-C0A2-40A6-898B-37344F836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defRPr sz="18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en-US"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Parsiranje</a:t>
            </a:r>
            <a:r>
              <a:rPr lang="en-US"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u </a:t>
            </a:r>
            <a:r>
              <a:rPr lang="en-US"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citljiv</a:t>
            </a:r>
            <a:r>
              <a:rPr lang="en-US"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lang="en-US"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tekstualni</a:t>
            </a:r>
            <a:r>
              <a:rPr lang="en-US"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lang="en-US"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foramt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CPythona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i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PEP </a:t>
            </a:r>
            <a:r>
              <a:rPr lang="en-US"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izvora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i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strukturnu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segmentaciju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.</a:t>
            </a:r>
          </a:p>
          <a:p>
            <a:pPr marL="254000" indent="-127000">
              <a:spcAft>
                <a:spcPts val="900"/>
              </a:spcAft>
              <a:buChar char="•"/>
              <a:defRPr sz="18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Segment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čuva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identitet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izvornog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dokumenta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i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putanju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odeljka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.</a:t>
            </a:r>
          </a:p>
          <a:p>
            <a:pPr marL="254000" indent="-127000">
              <a:spcAft>
                <a:spcPts val="900"/>
              </a:spcAft>
              <a:defRPr sz="18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BM25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i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FAISS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nezavisno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rangiraju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segmente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, </a:t>
            </a:r>
            <a:br>
              <a:rPr lang="en-US"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</a:b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a RRF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spaja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njihove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rangove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.</a:t>
            </a:r>
          </a:p>
          <a:p>
            <a:pPr marL="254000" indent="-127000">
              <a:spcAft>
                <a:spcPts val="900"/>
              </a:spcAft>
              <a:defRPr sz="18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Qwen2.5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dobija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dva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odabrana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segmenta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,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oblikuje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br>
              <a:rPr lang="en-US"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</a:b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odgovor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i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navodi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85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izvore</a:t>
            </a:r>
            <a:r>
              <a:rPr sz="185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.</a:t>
            </a:r>
            <a:endParaRPr sz="18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7420D3-9B73-41C0-B7D5-E8D336190003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sz="975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3 / 11</a:t>
            </a:r>
          </a:p>
        </p:txBody>
      </p:sp>
      <p:pic>
        <p:nvPicPr>
          <p:cNvPr id="5" name="Picture 4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4FE29C55-F841-7091-7316-82B8E1D9B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463" y="3432201"/>
            <a:ext cx="4596670" cy="268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53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30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300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Korak 1: Priprema korpusa i parsiranje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Izvori (CPython dokumentacija i PEP dokumenti) prevode se iz izvornog formata u čist tekst.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Uklanjaju se elementi prikaza (navigacija, oznake), </a:t>
            </a:r>
            <a:br>
              <a:rPr lang="sr-Latn-RS" sz="1850" dirty="0">
                <a:solidFill>
                  <a:srgbClr val="212121"/>
                </a:solidFill>
                <a:latin typeface="Garamond"/>
              </a:rPr>
            </a:br>
            <a:r>
              <a:rPr lang="sr-Latn-RS" sz="1850" dirty="0">
                <a:solidFill>
                  <a:srgbClr val="212121"/>
                </a:solidFill>
                <a:latin typeface="Garamond"/>
              </a:rPr>
              <a:t>a zadržava se sadržaj i struktura odeljaka.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Svaki blok pamti identitet izvornog dokumenta i</a:t>
            </a:r>
            <a:br>
              <a:rPr lang="sr-Latn-RS" sz="1850" dirty="0">
                <a:solidFill>
                  <a:srgbClr val="212121"/>
                </a:solidFill>
                <a:latin typeface="Garamond"/>
              </a:rPr>
            </a:br>
            <a:r>
              <a:rPr lang="sr-Latn-RS" sz="1850" dirty="0">
                <a:solidFill>
                  <a:srgbClr val="212121"/>
                </a:solidFill>
                <a:latin typeface="Garamond"/>
              </a:rPr>
              <a:t> putanju odeljka (naslov → </a:t>
            </a:r>
            <a:r>
              <a:rPr lang="sr-Latn-RS" sz="1850" dirty="0" err="1">
                <a:solidFill>
                  <a:srgbClr val="212121"/>
                </a:solidFill>
                <a:latin typeface="Garamond"/>
              </a:rPr>
              <a:t>pododeljak</a:t>
            </a:r>
            <a:r>
              <a:rPr lang="sr-Latn-RS" sz="1850" dirty="0">
                <a:solidFill>
                  <a:srgbClr val="212121"/>
                </a:solidFill>
                <a:latin typeface="Garamond"/>
              </a:rPr>
              <a:t>).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Cilj: uredan i deterministički ulaz koji kasnije </a:t>
            </a:r>
            <a:br>
              <a:rPr lang="sr-Latn-RS" sz="1850" dirty="0">
                <a:solidFill>
                  <a:srgbClr val="212121"/>
                </a:solidFill>
                <a:latin typeface="Garamond"/>
              </a:rPr>
            </a:br>
            <a:r>
              <a:rPr lang="sr-Latn-RS" sz="1850" dirty="0">
                <a:solidFill>
                  <a:srgbClr val="212121"/>
                </a:solidFill>
                <a:latin typeface="Garamond"/>
              </a:rPr>
              <a:t>omogućava precizno citiranje izvora.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477500" y="642937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975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4 / 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430ACF-505E-21A0-6612-69EF894E0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681" y="2997200"/>
            <a:ext cx="4539598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30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300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Korak 2: Strukturna segmentacija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Tekst se deli na segmente ograničene veličine, uz preklapanje koje čuva kontekst na granicama.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Granice odeljaka i celine poštuju se kad god veličina segmenta to dozvoljava.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Poređene su konfiguracije 256/32, 512/64 i 768/96 (tokeni segmenta / preklapanje).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Kompromis: manji segmenti daju precizniji signal uz veći indeks; veći nose širi kontekst uz rizik mešanja tema.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477500" y="642937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975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30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300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Korak 3: Vektorsko indeksiranje (</a:t>
            </a:r>
            <a:r>
              <a:rPr lang="sr-Latn-RS" sz="3000" dirty="0" err="1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embeddings</a:t>
            </a:r>
            <a:r>
              <a:rPr lang="sr-Latn-RS" sz="300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, FAISS)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Vektorski indeks čuva ugneždenja (embeddings) segmenata i meri semantičku sličnost, a ne doslovno poklapanje.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Model jina-embeddings-v2-small-en (512 dimenzija); pretraga preko FAISS IndexFlatIP nad L2-normalizovanim vektorima.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Hvata parafraze i sinonime koje leksička </a:t>
            </a:r>
            <a:br>
              <a:rPr lang="sr-Latn-RS" sz="1850" dirty="0">
                <a:solidFill>
                  <a:srgbClr val="212121"/>
                </a:solidFill>
                <a:latin typeface="Garamond"/>
              </a:rPr>
            </a:br>
            <a:r>
              <a:rPr lang="sr-Latn-RS" sz="1850" dirty="0">
                <a:solidFill>
                  <a:srgbClr val="212121"/>
                </a:solidFill>
                <a:latin typeface="Garamond"/>
              </a:rPr>
              <a:t>pretraga sama promaši.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Gradi se nezavisno od leksičkog indeksa, </a:t>
            </a:r>
            <a:br>
              <a:rPr lang="sr-Latn-RS" sz="1850" dirty="0">
                <a:solidFill>
                  <a:srgbClr val="212121"/>
                </a:solidFill>
                <a:latin typeface="Garamond"/>
              </a:rPr>
            </a:br>
            <a:r>
              <a:rPr lang="sr-Latn-RS" sz="1850" dirty="0">
                <a:solidFill>
                  <a:srgbClr val="212121"/>
                </a:solidFill>
                <a:latin typeface="Garamond"/>
              </a:rPr>
              <a:t>dve komplementarne rang-liste koje kasnije spaja RRF.</a:t>
            </a:r>
            <a:endParaRPr lang="sr-Latn-RS" dirty="0"/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477500" y="642937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975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30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300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Korak 4: Leksičko indeksiranje (BM25)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Leksički indeks (BM25) pamti reči i pogađa tačna poklapanja termina, imena funkcija i simbola iz koda.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Pogodan za tehničku dokumentaciju: precizno hvata identifikatore, ključne reči jezika i simbole iz koda.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Implementiran nad SQLite FTS5 rangiranjem, nad istim skupom segmenata kao vektorski indeks.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Ograničenje: promaši parafraze i sinonime kada se pitanje ne poklapa doslovno sa tekstom.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477500" y="642937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975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6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30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300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Korak 5: Hibridna pretraga i fuzija (RRF)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Pitanje se istovremeno šalje leksičkom i vektorskom indeksu; svaki vraća svoju rang-listu segmenata.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Reciprocal Rank Fusion (RRF) spaja dve liste na osnovu pozicija, bez usklađivanja različitih skorova.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Segment visoko rangiran u obe metode dobija najjači zbirni rang.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Rezultat je stabilnije rangiranje nego kod bilo koje pojedinačne metode, posebno među prvim rezultatima.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477500" y="642937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975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8 / 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40333-1D7D-C363-30EE-4B084C932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990" y="4417060"/>
            <a:ext cx="52197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30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300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Eksperiment i rezultati</a:t>
            </a:r>
            <a:endParaRPr lang="sr-Latn-R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SzPct val="114999"/>
              <a:defRPr sz="17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700" dirty="0">
                <a:solidFill>
                  <a:srgbClr val="212121"/>
                </a:solidFill>
                <a:latin typeface="Garamond"/>
              </a:rPr>
              <a:t>Korpus: CPython i PEP; 16 odgovorivih pitanja i 4 pitanja izvan korpusa (provera odbijanja).</a:t>
            </a:r>
          </a:p>
          <a:p>
            <a:pPr marL="254000" indent="-127000">
              <a:spcAft>
                <a:spcPts val="900"/>
              </a:spcAft>
              <a:buSzPct val="114999"/>
              <a:defRPr sz="17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700" dirty="0">
                <a:solidFill>
                  <a:srgbClr val="212121"/>
                </a:solidFill>
                <a:latin typeface="Garamond"/>
              </a:rPr>
              <a:t>Poređeno je 9 kombinacija metode i segmentacije; </a:t>
            </a:r>
            <a:br>
              <a:rPr lang="sr-Latn-RS" sz="1700" dirty="0">
                <a:solidFill>
                  <a:srgbClr val="212121"/>
                </a:solidFill>
                <a:latin typeface="Garamond"/>
              </a:rPr>
            </a:br>
            <a:r>
              <a:rPr lang="sr-Latn-RS" sz="1700" dirty="0">
                <a:solidFill>
                  <a:srgbClr val="212121"/>
                </a:solidFill>
                <a:latin typeface="Garamond"/>
              </a:rPr>
              <a:t>mere su Success@1/2/5 i MRR@60.</a:t>
            </a:r>
          </a:p>
          <a:p>
            <a:pPr marL="254000" indent="-127000">
              <a:spcAft>
                <a:spcPts val="900"/>
              </a:spcAft>
              <a:buSzPct val="114999"/>
              <a:defRPr sz="17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700" dirty="0">
                <a:solidFill>
                  <a:srgbClr val="212121"/>
                </a:solidFill>
                <a:latin typeface="Garamond"/>
              </a:rPr>
              <a:t>Najbolji rezultat: hibrid 256/32 → MRR 0,8642 i Success@1 13/16.</a:t>
            </a:r>
          </a:p>
          <a:p>
            <a:pPr marL="254000" indent="-127000">
              <a:spcAft>
                <a:spcPts val="900"/>
              </a:spcAft>
              <a:buSzPct val="114999"/>
              <a:defRPr sz="17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700" dirty="0">
                <a:solidFill>
                  <a:srgbClr val="212121"/>
                </a:solidFill>
                <a:latin typeface="Garamond"/>
              </a:rPr>
              <a:t>Cena izbora: 256/32 nosi veći indeks (70,63 MiB) </a:t>
            </a:r>
            <a:br>
              <a:rPr lang="sr-Latn-RS" sz="1700" dirty="0">
                <a:solidFill>
                  <a:srgbClr val="212121"/>
                </a:solidFill>
                <a:latin typeface="Garamond"/>
              </a:rPr>
            </a:br>
            <a:r>
              <a:rPr lang="sr-Latn-RS" sz="1700" dirty="0">
                <a:solidFill>
                  <a:srgbClr val="212121"/>
                </a:solidFill>
                <a:latin typeface="Garamond"/>
              </a:rPr>
              <a:t>i nešto sporiju pretragu od 768/96 (43,69 </a:t>
            </a:r>
            <a:r>
              <a:rPr lang="sr-Latn-RS" sz="1700" dirty="0" err="1">
                <a:solidFill>
                  <a:srgbClr val="212121"/>
                </a:solidFill>
                <a:latin typeface="Garamond"/>
              </a:rPr>
              <a:t>MiB</a:t>
            </a:r>
            <a:r>
              <a:rPr lang="sr-Latn-RS" sz="1700" dirty="0">
                <a:solidFill>
                  <a:srgbClr val="212121"/>
                </a:solidFill>
                <a:latin typeface="Garamond"/>
              </a:rPr>
              <a:t>).</a:t>
            </a:r>
          </a:p>
          <a:p>
            <a:pPr marL="254000" indent="-127000">
              <a:spcAft>
                <a:spcPts val="900"/>
              </a:spcAft>
              <a:buSzPct val="114999"/>
              <a:defRPr sz="17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700" dirty="0">
                <a:solidFill>
                  <a:srgbClr val="212121"/>
                </a:solidFill>
                <a:latin typeface="Garamond"/>
              </a:rPr>
              <a:t>Veći MRR ne garantuje da generator zaista </a:t>
            </a:r>
            <a:br>
              <a:rPr lang="sr-Latn-RS" sz="1700" dirty="0">
                <a:solidFill>
                  <a:srgbClr val="212121"/>
                </a:solidFill>
                <a:latin typeface="Garamond"/>
              </a:rPr>
            </a:br>
            <a:r>
              <a:rPr lang="sr-Latn-RS" sz="1700" dirty="0">
                <a:solidFill>
                  <a:srgbClr val="212121"/>
                </a:solidFill>
                <a:latin typeface="Garamond"/>
              </a:rPr>
              <a:t>koristi relevantniji kontekst.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477500" y="642937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975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9 / 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4D9C50-55DA-6CB5-3858-0C5AEEA61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805" y="2946400"/>
            <a:ext cx="3966949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30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300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Korišćene tehnologije</a:t>
            </a:r>
            <a:endParaRPr lang="sr-Latn-R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Leksički indeks i BM25 rangiranje: SQLite FTS5.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Ugneždenja: jina-embeddings-v2-small-en (512 dimenzija); pretraga: FAISS IndexFlatIP nad L2-normalizovanim vektorima.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Generisanje odgovora: Qwen2.5-0.5B-Instruct, lokalno.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Podrška: </a:t>
            </a:r>
            <a:r>
              <a:rPr lang="sr-Latn-RS" sz="1850" dirty="0" err="1">
                <a:solidFill>
                  <a:srgbClr val="212121"/>
                </a:solidFill>
                <a:latin typeface="Garamond"/>
              </a:rPr>
              <a:t>Python</a:t>
            </a:r>
            <a:r>
              <a:rPr lang="sr-Latn-RS" sz="1850" dirty="0">
                <a:solidFill>
                  <a:srgbClr val="212121"/>
                </a:solidFill>
                <a:latin typeface="Garamond"/>
              </a:rPr>
              <a:t>, </a:t>
            </a:r>
            <a:r>
              <a:rPr lang="sr-Latn-RS" sz="1850" dirty="0" err="1">
                <a:solidFill>
                  <a:srgbClr val="212121"/>
                </a:solidFill>
                <a:latin typeface="Garamond"/>
              </a:rPr>
              <a:t>tiktoken</a:t>
            </a:r>
            <a:r>
              <a:rPr lang="sr-Latn-RS" sz="1850" dirty="0">
                <a:solidFill>
                  <a:srgbClr val="212121"/>
                </a:solidFill>
                <a:latin typeface="Garamond"/>
              </a:rPr>
              <a:t> i ONNX </a:t>
            </a:r>
            <a:r>
              <a:rPr lang="sr-Latn-RS" sz="1850" dirty="0" err="1">
                <a:solidFill>
                  <a:srgbClr val="212121"/>
                </a:solidFill>
                <a:latin typeface="Garamond"/>
              </a:rPr>
              <a:t>Runtime</a:t>
            </a:r>
            <a:r>
              <a:rPr lang="sr-Latn-RS" sz="1850" dirty="0">
                <a:solidFill>
                  <a:srgbClr val="212121"/>
                </a:solidFill>
                <a:latin typeface="Garamond"/>
              </a:rPr>
              <a:t> (izvršavanje modela).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477500" y="642937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975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10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EC760-4615-F1E1-E91A-120E2E446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Demonstracija</a:t>
            </a:r>
            <a:r>
              <a:rPr lang="en-US"/>
              <a:t> projekta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F5E8F-D592-0B22-A29B-64B6713EB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screen-recording-2026-09-22-at-082130_W82ejH3z">
            <a:hlinkClick r:id="" action="ppaction://media"/>
            <a:extLst>
              <a:ext uri="{FF2B5EF4-FFF2-40B4-BE49-F238E27FC236}">
                <a16:creationId xmlns:a16="http://schemas.microsoft.com/office/drawing/2014/main" id="{6F39A32A-7470-8C83-B3C1-12769DD8FA9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17587" y="2068819"/>
            <a:ext cx="6756827" cy="380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1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30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3000" dirty="0">
                <a:solidFill>
                  <a:srgbClr val="212121"/>
                </a:solidFill>
                <a:latin typeface="Garamond"/>
              </a:rPr>
              <a:t>Potencijalne nadogradnje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Dinamička veličina segmenta: dužina </a:t>
            </a:r>
            <a:r>
              <a:rPr lang="sr-Latn-RS" sz="1850" dirty="0" err="1">
                <a:solidFill>
                  <a:srgbClr val="212121"/>
                </a:solidFill>
                <a:latin typeface="Garamond"/>
              </a:rPr>
              <a:t>chunka</a:t>
            </a:r>
            <a:r>
              <a:rPr lang="sr-Latn-RS" sz="1850" dirty="0">
                <a:solidFill>
                  <a:srgbClr val="212121"/>
                </a:solidFill>
                <a:latin typeface="Garamond"/>
              </a:rPr>
              <a:t> prilagođava se strukturi i gustini sadržaja umesto fiksne vrednosti.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 err="1">
                <a:solidFill>
                  <a:srgbClr val="212121"/>
                </a:solidFill>
                <a:latin typeface="Garamond"/>
              </a:rPr>
              <a:t>Reformulisanje</a:t>
            </a:r>
            <a:r>
              <a:rPr lang="sr-Latn-RS" sz="1850" dirty="0">
                <a:solidFill>
                  <a:srgbClr val="212121"/>
                </a:solidFill>
                <a:latin typeface="Garamond"/>
              </a:rPr>
              <a:t> pitanja (</a:t>
            </a:r>
            <a:r>
              <a:rPr lang="sr-Latn-RS" sz="1850" dirty="0" err="1">
                <a:solidFill>
                  <a:srgbClr val="212121"/>
                </a:solidFill>
                <a:latin typeface="Garamond"/>
              </a:rPr>
              <a:t>HyDE</a:t>
            </a:r>
            <a:r>
              <a:rPr lang="sr-Latn-RS" sz="1850" dirty="0">
                <a:solidFill>
                  <a:srgbClr val="212121"/>
                </a:solidFill>
                <a:latin typeface="Garamond"/>
              </a:rPr>
              <a:t>): generiše se hipotetički odgovor koji se koristi kao upit za vektorsku (ANN) pretragu.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Specijalizovani </a:t>
            </a:r>
            <a:r>
              <a:rPr lang="sr-Latn-RS" sz="1850" dirty="0" err="1">
                <a:solidFill>
                  <a:srgbClr val="212121"/>
                </a:solidFill>
                <a:latin typeface="Garamond"/>
              </a:rPr>
              <a:t>parser</a:t>
            </a:r>
            <a:r>
              <a:rPr lang="sr-Latn-RS" sz="1850" dirty="0">
                <a:solidFill>
                  <a:srgbClr val="212121"/>
                </a:solidFill>
                <a:latin typeface="Garamond"/>
              </a:rPr>
              <a:t> za </a:t>
            </a:r>
            <a:r>
              <a:rPr lang="sr-Latn-RS" sz="1850" dirty="0" err="1">
                <a:solidFill>
                  <a:srgbClr val="212121"/>
                </a:solidFill>
                <a:latin typeface="Garamond"/>
              </a:rPr>
              <a:t>CPython</a:t>
            </a:r>
            <a:r>
              <a:rPr lang="sr-Latn-RS" sz="1850" dirty="0">
                <a:solidFill>
                  <a:srgbClr val="212121"/>
                </a:solidFill>
                <a:latin typeface="Garamond"/>
              </a:rPr>
              <a:t> i PEP izvore: vernije čuvanje koda, tabela i unakrsnih referenci.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Ponovno rangiranje (cross-encoder re-ranking) najboljih kandidata pre prosleđivanja generatoru.</a:t>
            </a:r>
          </a:p>
          <a:p>
            <a:pPr marL="254000" indent="-127000">
              <a:spcAft>
                <a:spcPts val="900"/>
              </a:spcAft>
              <a:buSzPct val="114999"/>
              <a:defRPr sz="185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850" dirty="0">
                <a:solidFill>
                  <a:srgbClr val="212121"/>
                </a:solidFill>
                <a:latin typeface="Garamond"/>
              </a:rPr>
              <a:t>Proširenje evaluacije na tačnost generisanog odgovora, a ne samo na kvalitet pretrage.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477500" y="642937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975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11 /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30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3000" dirty="0">
                <a:solidFill>
                  <a:srgbClr val="212121"/>
                </a:solidFill>
                <a:latin typeface="Garamond"/>
                <a:ea typeface="Garamond"/>
                <a:cs typeface="Garamond"/>
              </a:rPr>
              <a:t>Zaključak i pitanja</a:t>
            </a:r>
            <a:endParaRPr lang="sr-Latn-R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SzPct val="114999"/>
              <a:defRPr sz="17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700" dirty="0">
                <a:solidFill>
                  <a:srgbClr val="212121"/>
                </a:solidFill>
                <a:latin typeface="Garamond"/>
              </a:rPr>
              <a:t>RRF ostvaruje veći MRR od pojedinačnih metoda u sve tri konfiguracije segmentacije.</a:t>
            </a:r>
          </a:p>
          <a:p>
            <a:pPr marL="254000" indent="-127000">
              <a:spcAft>
                <a:spcPts val="900"/>
              </a:spcAft>
              <a:buSzPct val="114999"/>
              <a:defRPr sz="17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700" dirty="0">
                <a:solidFill>
                  <a:srgbClr val="212121"/>
                </a:solidFill>
                <a:latin typeface="Garamond"/>
              </a:rPr>
              <a:t>Konfiguracija 256/32 daje najbolji hibridni rezultat, uz jasan trošak memorije i vremena.</a:t>
            </a:r>
          </a:p>
          <a:p>
            <a:pPr marL="254000" indent="-127000">
              <a:spcAft>
                <a:spcPts val="900"/>
              </a:spcAft>
              <a:buSzPct val="114999"/>
              <a:defRPr sz="17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700" dirty="0">
                <a:solidFill>
                  <a:srgbClr val="212121"/>
                </a:solidFill>
                <a:latin typeface="Garamond"/>
              </a:rPr>
              <a:t>Dobar rang i citirani izvori ne potvrđuju sami po sebi tačnost generisanog odgovora.</a:t>
            </a:r>
          </a:p>
          <a:p>
            <a:pPr marL="254000" indent="-127000">
              <a:spcAft>
                <a:spcPts val="900"/>
              </a:spcAft>
              <a:buSzPct val="114999"/>
              <a:defRPr sz="17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700" dirty="0">
                <a:solidFill>
                  <a:srgbClr val="212121"/>
                </a:solidFill>
                <a:latin typeface="Garamond"/>
              </a:rPr>
              <a:t>Dalji rad: nezavisni pregled oznaka, evaluacija dokaznih segmenata i izbor indeksa u aplikaciji.</a:t>
            </a:r>
          </a:p>
          <a:p>
            <a:pPr marL="254000" indent="-127000">
              <a:spcAft>
                <a:spcPts val="900"/>
              </a:spcAft>
              <a:buSzPct val="114999"/>
              <a:defRPr sz="1700">
                <a:solidFill>
                  <a:srgbClr val="212121"/>
                </a:solidFill>
                <a:latin typeface="Garamond"/>
                <a:ea typeface="Garamond"/>
                <a:cs typeface="Garamond"/>
              </a:defRPr>
            </a:pPr>
            <a:r>
              <a:rPr lang="sr-Latn-RS" sz="1700" dirty="0">
                <a:solidFill>
                  <a:srgbClr val="212121"/>
                </a:solidFill>
                <a:latin typeface="Garamond"/>
              </a:rPr>
              <a:t>Hvala na pažnji.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Widescreen</PresentationFormat>
  <Slides>14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Realizacija RAG sistema i evaluacija pretrage nad dokumentacijom programskog jezika Python</vt:lpstr>
      <vt:lpstr>Problem i cilj rada</vt:lpstr>
      <vt:lpstr>Istraživačka pitanja</vt:lpstr>
      <vt:lpstr>Tok RAG sistema</vt:lpstr>
      <vt:lpstr>Korak 1: Priprema korpusa i parsiranje</vt:lpstr>
      <vt:lpstr>Korak 2: Strukturna segmentacija</vt:lpstr>
      <vt:lpstr>Korak 3: Vektorsko indeksiranje (embeddings, FAISS)</vt:lpstr>
      <vt:lpstr>Korak 4: Leksičko indeksiranje (BM25)</vt:lpstr>
      <vt:lpstr>Korak 5: Hibridna pretraga i fuzija (RRF)</vt:lpstr>
      <vt:lpstr>Eksperiment i rezultati</vt:lpstr>
      <vt:lpstr>Korišćene tehnologije</vt:lpstr>
      <vt:lpstr>Demonstracija projekta</vt:lpstr>
      <vt:lpstr>Potencijalne nadogradnje</vt:lpstr>
      <vt:lpstr>Zaključak i pitanja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98</cp:revision>
  <dcterms:created xsi:type="dcterms:W3CDTF">2026-09-19T21:11:17Z</dcterms:created>
  <dcterms:modified xsi:type="dcterms:W3CDTF">2026-09-22T06:51:07Z</dcterms:modified>
</cp:coreProperties>
</file>